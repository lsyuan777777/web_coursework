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1" Type="http://schemas.openxmlformats.org/officeDocument/2006/relationships/viewProps" Target="viewProps.xml" /><Relationship Id="rId2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3" Type="http://schemas.openxmlformats.org/officeDocument/2006/relationships/tableStyles" Target="tableStyles.xml" /><Relationship Id="rId2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Books API - Presentation Slides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1: Title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Books Metadata &amp; Recommendation API</a:t>
            </a:r>
          </a:p>
          <a:p>
            <a:pPr lvl="0"/>
            <a:r>
              <a:rPr/>
              <a:t>Module: XJCO3011 Web Services and Web Data</a:t>
            </a:r>
          </a:p>
          <a:p>
            <a:pPr lvl="0"/>
            <a:r>
              <a:rPr/>
              <a:t>Coursework 1: Individual API Development Project</a:t>
            </a:r>
          </a:p>
          <a:p>
            <a:pPr lvl="0"/>
            <a:r>
              <a:rPr/>
              <a:t>Student Name: [Your Name]</a:t>
            </a:r>
          </a:p>
          <a:p>
            <a:pPr lvl="0"/>
            <a:r>
              <a:rPr/>
              <a:t>Date: April 2026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2: 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is the Books API?</a:t>
            </a:r>
          </a:p>
          <a:p>
            <a:pPr lvl="0" indent="0" marL="0">
              <a:buNone/>
            </a:pPr>
            <a:r>
              <a:rPr/>
              <a:t>A comprehensive RESTful web service for managing books, authors, genres, and reviews.</a:t>
            </a:r>
          </a:p>
          <a:p>
            <a:pPr lvl="0" indent="0" marL="0">
              <a:buNone/>
            </a:pPr>
            <a:r>
              <a:rPr b="1"/>
              <a:t>Key Features:</a:t>
            </a:r>
            <a:r>
              <a:rPr/>
              <a:t> - Full CRUD operations for all resources - Advanced search and filtering - Analytics and insights endpoints - OpenAPI/Swagger documentation - Production-ready architecture</a:t>
            </a:r>
          </a:p>
          <a:p>
            <a:pPr lvl="0" indent="0" marL="0">
              <a:buNone/>
            </a:pPr>
            <a:r>
              <a:rPr b="1"/>
              <a:t>Technology Stack:</a:t>
            </a:r>
            <a:r>
              <a:rPr/>
              <a:t> - Django + Django REST Framework - SQLite Database - drf-spectacular for API docs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3: 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┌─────────────┐
│   Client    │
│ (Browser/   │
│   App)      │
└──────┬──────┘
       │ HTTP/REST
       ▼
┌─────────────────┐
│ Django REST     │
│ Framework       │
│  - Viewsets     │
│  - Serializers  │
│  - Pagination   │
└────────┬────────┘
         │
         ▼
┌─────────────────┐
│ Django ORM      │
│ - QuerySets     │
│ - Relationships │
└────────┬────────┘
         │
         ▼
┌─────────────────┐
│  SQLite         │
│  Database       │
└─────────────────┘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4: Data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Entities &amp; Relationships</a:t>
            </a:r>
          </a:p>
          <a:p>
            <a:pPr lvl="0" indent="0">
              <a:buNone/>
            </a:pPr>
            <a:r>
              <a:rPr>
                <a:latin typeface="Courier"/>
              </a:rPr>
              <a:t>    ┌──────────┐         ┌──────────┐
    │  Author  │1───&lt;    │   Book   │ &gt;───M──┐
    └──────────┘         └──────────┘        │
                                                │ M
    ┌──────────┐         ┌──────────┐        │
    │  Genre   │M───&lt;    │   Book   │ &gt;───&lt;M──┘
    └──────────┘         └──────────┘        │
                                                │
                              ┌──────────┐     │
                              │  Review  │ &lt;───┘
                              └──────────┘</a:t>
            </a:r>
          </a:p>
          <a:p>
            <a:pPr lvl="0" indent="0" marL="0">
              <a:buNone/>
            </a:pPr>
            <a:r>
              <a:rPr b="1"/>
              <a:t>Models:</a:t>
            </a:r>
            <a:r>
              <a:rPr/>
              <a:t> - Author: name, bio, birth_year - Book: title, author, genres, ISBN, rating, etc. - Genre: name, description - Review: book, user, rating, comment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Slide 5: API Endpoints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Core Resources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Endpoints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Operations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Books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/api/books/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CRUD + Search + Top-rated + By-genre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Authors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/api/authors/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CRUD + Search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Genres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/api/genres/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CRUD + Book count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Reviews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/api/reviews/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CRUD + Filter by book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Bonus Analytics:</a:t>
            </a:r>
            <a:r>
              <a:rPr/>
              <a:t> - </a:t>
            </a:r>
            <a:r>
              <a:rPr>
                <a:latin typeface="Courier"/>
              </a:rPr>
              <a:t>/api/analytics/dashboard/</a:t>
            </a:r>
            <a:r>
              <a:rPr/>
              <a:t> - Overall stats - </a:t>
            </a:r>
            <a:r>
              <a:rPr>
                <a:latin typeface="Courier"/>
              </a:rPr>
              <a:t>/api/analytics/genre_distribution/</a:t>
            </a:r>
            <a:r>
              <a:rPr/>
              <a:t> - Books per genre - </a:t>
            </a:r>
            <a:r>
              <a:rPr>
                <a:latin typeface="Courier"/>
              </a:rPr>
              <a:t>/api/analytics/rating_distribution/</a:t>
            </a:r>
            <a:r>
              <a:rPr/>
              <a:t> - Rating breakdown - </a:t>
            </a:r>
            <a:r>
              <a:rPr>
                <a:latin typeface="Courier"/>
              </a:rPr>
              <a:t>/api/analytics/yearly_stats/</a:t>
            </a:r>
            <a:r>
              <a:rPr/>
              <a:t> - Publication trends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6: API Documentation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Self-Documenting API</a:t>
            </a:r>
          </a:p>
          <a:p>
            <a:pPr lvl="0" indent="0">
              <a:buNone/>
            </a:pPr>
            <a:r>
              <a:rPr>
                <a:latin typeface="Courier"/>
              </a:rPr>
              <a:t>Endpoint: GET /api/books/</a:t>
            </a:r>
          </a:p>
          <a:p>
            <a:pPr lvl="0" indent="0" marL="0">
              <a:buNone/>
            </a:pPr>
            <a:r>
              <a:rPr/>
              <a:t>Response (JSON):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"count"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15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"results"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7020"/>
                </a:solidFill>
                <a:latin typeface="Courier"/>
              </a:rPr>
              <a:t>[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6287E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</a:t>
            </a:r>
            <a:r>
              <a:rPr>
                <a:solidFill>
                  <a:srgbClr val="902000"/>
                </a:solidFill>
                <a:latin typeface="Courier"/>
              </a:rPr>
              <a:t>"id"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</a:t>
            </a:r>
            <a:r>
              <a:rPr>
                <a:solidFill>
                  <a:srgbClr val="902000"/>
                </a:solidFill>
                <a:latin typeface="Courier"/>
              </a:rPr>
              <a:t>"title"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"The Hobbit"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</a:t>
            </a:r>
            <a:r>
              <a:rPr>
                <a:solidFill>
                  <a:srgbClr val="902000"/>
                </a:solidFill>
                <a:latin typeface="Courier"/>
              </a:rPr>
              <a:t>"author_name"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"J.R.R. Tolkien"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</a:t>
            </a:r>
            <a:r>
              <a:rPr>
                <a:solidFill>
                  <a:srgbClr val="902000"/>
                </a:solidFill>
                <a:latin typeface="Courier"/>
              </a:rPr>
              <a:t>"genres_list"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7020"/>
                </a:solidFill>
                <a:latin typeface="Courier"/>
              </a:rPr>
              <a:t>[</a:t>
            </a:r>
            <a:r>
              <a:rPr>
                <a:solidFill>
                  <a:srgbClr val="4070A0"/>
                </a:solidFill>
                <a:latin typeface="Courier"/>
              </a:rPr>
              <a:t>"Fantasy"</a:t>
            </a:r>
            <a:r>
              <a:rPr>
                <a:solidFill>
                  <a:srgbClr val="007020"/>
                </a:solidFill>
                <a:latin typeface="Courier"/>
              </a:rPr>
              <a:t>]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</a:t>
            </a:r>
            <a:r>
              <a:rPr>
                <a:solidFill>
                  <a:srgbClr val="902000"/>
                </a:solidFill>
                <a:latin typeface="Courier"/>
              </a:rPr>
              <a:t>"average_rating"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"4.70"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</a:t>
            </a:r>
            <a:r>
              <a:rPr>
                <a:solidFill>
                  <a:srgbClr val="902000"/>
                </a:solidFill>
                <a:latin typeface="Courier"/>
              </a:rPr>
              <a:t>"ratings_count"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2000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6287E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07020"/>
                </a:solidFill>
                <a:latin typeface="Courier"/>
              </a:rPr>
              <a:t>]</a:t>
            </a:r>
            <a:br/>
            <a:r>
              <a:rPr>
                <a:solidFill>
                  <a:srgbClr val="06287E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  <a:r>
              <a:rPr b="1"/>
              <a:t>Interactive Documentation:</a:t>
            </a:r>
            <a:r>
              <a:rPr/>
              <a:t> - Swagger UI: </a:t>
            </a:r>
            <a:r>
              <a:rPr>
                <a:latin typeface="Courier"/>
              </a:rPr>
              <a:t>/api/docs/</a:t>
            </a:r>
            <a:r>
              <a:rPr/>
              <a:t> - ReDoc: </a:t>
            </a:r>
            <a:r>
              <a:rPr>
                <a:latin typeface="Courier"/>
              </a:rPr>
              <a:t>/api/redoc/</a:t>
            </a:r>
            <a:r>
              <a:rPr/>
              <a:t> - OpenAPI Schema: </a:t>
            </a:r>
            <a:r>
              <a:rPr>
                <a:latin typeface="Courier"/>
              </a:rPr>
              <a:t>/api/schema/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7: Version Control &amp; Git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Git Best Practices</a:t>
            </a:r>
          </a:p>
          <a:p>
            <a:pPr lvl="0" indent="0">
              <a:buNone/>
            </a:pPr>
            <a:r>
              <a:rPr>
                <a:latin typeface="Courier"/>
              </a:rPr>
              <a:t>commit history:
├── feat: add analytics dashboard endpoint
├── feat: implement book search functionality
├── docs: update API documentation
├── fix: correct pagination in book list
└── init: project setup with Django</a:t>
            </a:r>
          </a:p>
          <a:p>
            <a:pPr lvl="0" indent="0" marL="0">
              <a:buNone/>
            </a:pPr>
            <a:r>
              <a:rPr b="1"/>
              <a:t>Branching Strategy:</a:t>
            </a:r>
            <a:r>
              <a:rPr/>
              <a:t> - </a:t>
            </a:r>
            <a:r>
              <a:rPr>
                <a:latin typeface="Courier"/>
              </a:rPr>
              <a:t>main</a:t>
            </a:r>
            <a:r>
              <a:rPr/>
              <a:t> branch: stable production-ready code - Feature branches: </a:t>
            </a:r>
            <a:r>
              <a:rPr>
                <a:latin typeface="Courier"/>
              </a:rPr>
              <a:t>feature/analytics</a:t>
            </a:r>
            <a:r>
              <a:rPr/>
              <a:t>, </a:t>
            </a:r>
            <a:r>
              <a:rPr>
                <a:latin typeface="Courier"/>
              </a:rPr>
              <a:t>feature/search</a:t>
            </a:r>
            <a:r>
              <a:rPr/>
              <a:t> - Descriptive commit messages following conventional commits</a:t>
            </a:r>
          </a:p>
          <a:p>
            <a:pPr lvl="0" indent="0" marL="0">
              <a:buNone/>
            </a:pPr>
            <a:r>
              <a:rPr b="1"/>
              <a:t>Repository Structure:</a:t>
            </a:r>
            <a:r>
              <a:rPr/>
              <a:t> - Versioned source code - Detailed README with setup instructions - Sample data scripts - Complete documentation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8: Testing &amp; Quality Assurance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Testing Approach</a:t>
            </a:r>
          </a:p>
          <a:p>
            <a:pPr lvl="0" indent="-342900" marL="342900">
              <a:buAutoNum type="arabicPeriod"/>
            </a:pPr>
            <a:r>
              <a:rPr b="1"/>
              <a:t>Unit Tests</a:t>
            </a:r>
          </a:p>
          <a:p>
            <a:pPr lvl="1"/>
            <a:r>
              <a:rPr/>
              <a:t>Model validation</a:t>
            </a:r>
          </a:p>
          <a:p>
            <a:pPr lvl="1"/>
            <a:r>
              <a:rPr/>
              <a:t>Serializer behavior</a:t>
            </a:r>
          </a:p>
          <a:p>
            <a:pPr lvl="1"/>
            <a:r>
              <a:rPr/>
              <a:t>Custom methods</a:t>
            </a:r>
          </a:p>
          <a:p>
            <a:pPr lvl="0" indent="-342900" marL="342900">
              <a:buAutoNum type="arabicPeriod"/>
            </a:pPr>
            <a:r>
              <a:rPr b="1"/>
              <a:t>Integration Tests</a:t>
            </a:r>
          </a:p>
          <a:p>
            <a:pPr lvl="1"/>
            <a:r>
              <a:rPr/>
              <a:t>API endpoint responses</a:t>
            </a:r>
          </a:p>
          <a:p>
            <a:pPr lvl="1"/>
            <a:r>
              <a:rPr/>
              <a:t>CRUD operations</a:t>
            </a:r>
          </a:p>
          <a:p>
            <a:pPr lvl="1"/>
            <a:r>
              <a:rPr/>
              <a:t>Error handling</a:t>
            </a:r>
          </a:p>
          <a:p>
            <a:pPr lvl="0" indent="-342900" marL="342900">
              <a:buAutoNum type="arabicPeriod"/>
            </a:pPr>
            <a:r>
              <a:rPr b="1"/>
              <a:t>Manual Testing</a:t>
            </a:r>
          </a:p>
          <a:p>
            <a:pPr lvl="1"/>
            <a:r>
              <a:rPr/>
              <a:t>Swagger UI exploration</a:t>
            </a:r>
          </a:p>
          <a:p>
            <a:pPr lvl="1"/>
            <a:r>
              <a:rPr/>
              <a:t>curl command testing</a:t>
            </a:r>
          </a:p>
          <a:p>
            <a:pPr lvl="1"/>
            <a:r>
              <a:rPr/>
              <a:t>Postman collections</a:t>
            </a:r>
          </a:p>
          <a:p>
            <a:pPr lvl="0" indent="0" marL="0">
              <a:buNone/>
            </a:pPr>
            <a:r>
              <a:rPr b="1"/>
              <a:t>Code Quality:</a:t>
            </a:r>
            <a:r>
              <a:rPr/>
              <a:t> - Type hints in serializers - Clean separation of concerns - DRY (Don’t Repeat Yourself) principle - Comprehensive error handling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9: Deployment &amp; Hosting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Deployment Options</a:t>
            </a:r>
          </a:p>
          <a:p>
            <a:pPr lvl="0" indent="0" marL="0">
              <a:buNone/>
            </a:pPr>
            <a:r>
              <a:rPr b="1"/>
              <a:t>Development:</a:t>
            </a:r>
          </a:p>
          <a:p>
            <a:pPr lvl="0" indent="0">
              <a:buNone/>
            </a:pPr>
            <a:r>
              <a:rPr>
                <a:latin typeface="Courier"/>
              </a:rPr>
              <a:t>python manage.py runserver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API available at http://127.0.0.1:8000</a:t>
            </a:r>
          </a:p>
          <a:p>
            <a:pPr lvl="0" indent="0" marL="0">
              <a:buNone/>
            </a:pPr>
            <a:r>
              <a:rPr b="1"/>
              <a:t>Production (PythonAnywhere / Heroku / AWS):</a:t>
            </a:r>
          </a:p>
          <a:p>
            <a:pPr lvl="0" indent="0">
              <a:buNone/>
            </a:pPr>
            <a:r>
              <a:rPr>
                <a:latin typeface="Courier"/>
              </a:rPr>
              <a:t>gunicorn books_api.wsgi:application</a:t>
            </a:r>
          </a:p>
          <a:p>
            <a:pPr lvl="0" indent="0" marL="0">
              <a:buNone/>
            </a:pPr>
            <a:r>
              <a:rPr b="1"/>
              <a:t>Environment Configuration:</a:t>
            </a:r>
            <a:r>
              <a:rPr/>
              <a:t> - SQLite (development) → PostgreSQL (production) - DEBUG=True (development) → DEBUG=False (production) - Static/media file serving - CORS configuration</a:t>
            </a:r>
          </a:p>
          <a:p>
            <a:pPr lvl="0" indent="0" marL="0">
              <a:buNone/>
            </a:pPr>
            <a:r>
              <a:rPr b="1"/>
              <a:t>Requirements:</a:t>
            </a:r>
            <a:r>
              <a:rPr/>
              <a:t> - Python 3.9+ - All dependencies in </a:t>
            </a:r>
            <a:r>
              <a:rPr>
                <a:latin typeface="Courier"/>
              </a:rPr>
              <a:t>requirements.txt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10: Advanced Features &amp; Extensions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Beyond Basic Requirements</a:t>
            </a:r>
          </a:p>
          <a:p>
            <a:pPr lvl="0" indent="0" marL="0">
              <a:buNone/>
            </a:pPr>
            <a:r>
              <a:rPr/>
              <a:t>✓ Analytics Dashboard ✓ Top-rated books endpoint ✓ Genre-based filtering ✓ Full-text search ✓ Advanced filtering &amp; ordering</a:t>
            </a:r>
          </a:p>
          <a:p>
            <a:pPr lvl="0" indent="0" marL="0">
              <a:buNone/>
            </a:pPr>
            <a:r>
              <a:rPr b="1"/>
              <a:t>Future Enhancements:</a:t>
            </a:r>
            <a:r>
              <a:rPr/>
              <a:t> - User authentication (JWT) - Recommendation engine - Caching layer (Redis) - Rate limiting - GraphQL alternative - Real-time notifications - Batch import/export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11: Challenges &amp;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Technical Challenges</a:t>
            </a:r>
          </a:p>
          <a:p>
            <a:pPr lvl="0" indent="-342900" marL="342900">
              <a:buAutoNum type="arabicPeriod"/>
            </a:pPr>
            <a:r>
              <a:rPr b="1"/>
              <a:t>Nested Serialization Complexity</a:t>
            </a:r>
          </a:p>
          <a:p>
            <a:pPr lvl="1"/>
            <a:r>
              <a:rPr/>
              <a:t>Solution: Separate list/detail serializers</a:t>
            </a:r>
          </a:p>
          <a:p>
            <a:pPr lvl="1"/>
            <a:r>
              <a:rPr/>
              <a:t>Optimized database queries with </a:t>
            </a:r>
            <a:r>
              <a:rPr>
                <a:latin typeface="Courier"/>
              </a:rPr>
              <a:t>select_related</a:t>
            </a:r>
            <a:r>
              <a:rPr/>
              <a:t> and </a:t>
            </a:r>
            <a:r>
              <a:rPr>
                <a:latin typeface="Courier"/>
              </a:rPr>
              <a:t>prefetch_related</a:t>
            </a:r>
          </a:p>
          <a:p>
            <a:pPr lvl="0" indent="-342900" marL="342900">
              <a:buAutoNum type="arabicPeriod"/>
            </a:pPr>
            <a:r>
              <a:rPr b="1"/>
              <a:t>OpenAPI Schema Accuracy</a:t>
            </a:r>
          </a:p>
          <a:p>
            <a:pPr lvl="1"/>
            <a:r>
              <a:rPr/>
              <a:t>Solution: Used </a:t>
            </a:r>
            <a:r>
              <a:rPr>
                <a:latin typeface="Courier"/>
              </a:rPr>
              <a:t>@extend_schema</a:t>
            </a:r>
            <a:r>
              <a:rPr/>
              <a:t> decorators</a:t>
            </a:r>
          </a:p>
          <a:p>
            <a:pPr lvl="1"/>
            <a:r>
              <a:rPr/>
              <a:t>Added explicit serializer classes</a:t>
            </a:r>
          </a:p>
          <a:p>
            <a:pPr lvl="0" indent="-342900" marL="342900">
              <a:buAutoNum type="arabicPeriod"/>
            </a:pPr>
            <a:r>
              <a:rPr b="1"/>
              <a:t>Database Query Optimization</a:t>
            </a:r>
          </a:p>
          <a:p>
            <a:pPr lvl="1"/>
            <a:r>
              <a:rPr/>
              <a:t>Solution: Database indexes on frequently queried fields</a:t>
            </a:r>
          </a:p>
          <a:p>
            <a:pPr lvl="1"/>
            <a:r>
              <a:rPr/>
              <a:t>Denormalized book counts on Author/Genre models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12: GenAI Usage &amp;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AI-Assisted Development</a:t>
            </a:r>
          </a:p>
          <a:p>
            <a:pPr lvl="0" indent="0" marL="0">
              <a:buNone/>
            </a:pPr>
            <a:r>
              <a:rPr b="1"/>
              <a:t>Tools Used:</a:t>
            </a:r>
            <a:r>
              <a:rPr/>
              <a:t> - Cursor AI (Primary development assistant) - ChatGPT for architecture discussions</a:t>
            </a:r>
          </a:p>
          <a:p>
            <a:pPr lvl="0" indent="0" marL="0">
              <a:buNone/>
            </a:pPr>
            <a:r>
              <a:rPr b="1"/>
              <a:t>Usage Pattern (High-Level Creative):</a:t>
            </a:r>
            <a:r>
              <a:rPr/>
              <a:t> - Explored alternative data model designs - Generated initial API documentation structure - Debugged complex serializer issues - Suggested optimization strategies</a:t>
            </a:r>
          </a:p>
          <a:p>
            <a:pPr lvl="0" indent="0" marL="0">
              <a:buNone/>
            </a:pPr>
            <a:r>
              <a:rPr b="1"/>
              <a:t>Reflection:</a:t>
            </a:r>
            <a:r>
              <a:rPr/>
              <a:t> AI tools significantly accelerated development while maintaining code quality. The AI helped explore architectural alternatives and identify potential issues early.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13: Lessons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Key Takeaways</a:t>
            </a:r>
          </a:p>
          <a:p>
            <a:pPr lvl="0" indent="-342900" marL="342900">
              <a:buAutoNum type="arabicPeriod"/>
            </a:pPr>
            <a:r>
              <a:rPr b="1"/>
              <a:t>Planning is Crucial</a:t>
            </a:r>
          </a:p>
          <a:p>
            <a:pPr lvl="1"/>
            <a:r>
              <a:rPr/>
              <a:t>Data model design upfront saves refactoring time</a:t>
            </a:r>
          </a:p>
          <a:p>
            <a:pPr lvl="0" indent="-342900" marL="342900">
              <a:buAutoNum type="arabicPeriod"/>
            </a:pPr>
            <a:r>
              <a:rPr b="1"/>
              <a:t>Documentation Matters</a:t>
            </a:r>
          </a:p>
          <a:p>
            <a:pPr lvl="1"/>
            <a:r>
              <a:rPr/>
              <a:t>Self-documenting code with OpenAPI saves future effort</a:t>
            </a:r>
          </a:p>
          <a:p>
            <a:pPr lvl="0" indent="-342900" marL="342900">
              <a:buAutoNum type="arabicPeriod"/>
            </a:pPr>
            <a:r>
              <a:rPr b="1"/>
              <a:t>API Design Principles</a:t>
            </a:r>
          </a:p>
          <a:p>
            <a:pPr lvl="1"/>
            <a:r>
              <a:rPr/>
              <a:t>RESTful patterns enable intuitive interfaces</a:t>
            </a:r>
          </a:p>
          <a:p>
            <a:pPr lvl="1"/>
            <a:r>
              <a:rPr/>
              <a:t>Consistent response formats improve usability</a:t>
            </a:r>
          </a:p>
          <a:p>
            <a:pPr lvl="0" indent="-342900" marL="342900">
              <a:buAutoNum type="arabicPeriod"/>
            </a:pPr>
            <a:r>
              <a:rPr b="1"/>
              <a:t>Modern Tooling</a:t>
            </a:r>
          </a:p>
          <a:p>
            <a:pPr lvl="1"/>
            <a:r>
              <a:rPr/>
              <a:t>Django + DRF provides excellent developer experience</a:t>
            </a:r>
          </a:p>
          <a:p>
            <a:pPr lvl="1"/>
            <a:r>
              <a:rPr/>
              <a:t>drf-spectacular simplifies API documentation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14: Demo &amp; Live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Live Demo</a:t>
            </a:r>
          </a:p>
          <a:p>
            <a:pPr lvl="0" indent="-342900" marL="342900">
              <a:buAutoNum type="arabicPeriod"/>
            </a:pPr>
            <a:r>
              <a:rPr b="1"/>
              <a:t>Swagger UI Exploration</a:t>
            </a:r>
          </a:p>
          <a:p>
            <a:pPr lvl="1"/>
            <a:r>
              <a:rPr/>
              <a:t>Browse endpoints</a:t>
            </a:r>
          </a:p>
          <a:p>
            <a:pPr lvl="1"/>
            <a:r>
              <a:rPr/>
              <a:t>Try out API calls</a:t>
            </a:r>
          </a:p>
          <a:p>
            <a:pPr lvl="0" indent="-342900" marL="342900">
              <a:buAutoNum type="arabicPeriod"/>
            </a:pPr>
            <a:r>
              <a:rPr b="1"/>
              <a:t>Analytics Dashboard</a:t>
            </a:r>
          </a:p>
          <a:p>
            <a:pPr lvl="1"/>
            <a:r>
              <a:rPr/>
              <a:t>View overall statistics</a:t>
            </a:r>
          </a:p>
          <a:p>
            <a:pPr lvl="1"/>
            <a:r>
              <a:rPr/>
              <a:t>Genre distribution charts</a:t>
            </a:r>
          </a:p>
          <a:p>
            <a:pPr lvl="0" indent="-342900" marL="342900">
              <a:buAutoNum type="arabicPeriod"/>
            </a:pPr>
            <a:r>
              <a:rPr b="1"/>
              <a:t>Search &amp; Filter</a:t>
            </a:r>
          </a:p>
          <a:p>
            <a:pPr lvl="1"/>
            <a:r>
              <a:rPr/>
              <a:t>Search by author name</a:t>
            </a:r>
          </a:p>
          <a:p>
            <a:pPr lvl="1"/>
            <a:r>
              <a:rPr/>
              <a:t>Filter by genre</a:t>
            </a:r>
          </a:p>
          <a:p>
            <a:pPr lvl="1"/>
            <a:r>
              <a:rPr/>
              <a:t>Top-rated books</a:t>
            </a:r>
          </a:p>
          <a:p>
            <a:pPr lvl="0" indent="0" marL="0">
              <a:buNone/>
            </a:pPr>
            <a:r>
              <a:rPr b="1"/>
              <a:t>Command Line Testing: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List all books</a:t>
            </a:r>
            <a:br/>
            <a:r>
              <a:rPr>
                <a:latin typeface="Courier"/>
              </a:rPr>
              <a:t>curl http://localhost:8000/api/books/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Get top 5 rated</a:t>
            </a:r>
            <a:br/>
            <a:r>
              <a:rPr>
                <a:latin typeface="Courier"/>
              </a:rPr>
              <a:t>curl http://localhost:8000/api/books/top_rated/</a:t>
            </a:r>
            <a:r>
              <a:rPr>
                <a:solidFill>
                  <a:srgbClr val="BC7A00"/>
                </a:solidFill>
                <a:latin typeface="Courier"/>
              </a:rPr>
              <a:t>?</a:t>
            </a:r>
            <a:r>
              <a:rPr>
                <a:latin typeface="Courier"/>
              </a:rPr>
              <a:t>limit=5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Dashboard stats</a:t>
            </a:r>
            <a:br/>
            <a:r>
              <a:rPr>
                <a:latin typeface="Courier"/>
              </a:rPr>
              <a:t>curl http://localhost:8000/api/analytics/dashboard/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15: Conclusion &amp;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Summary</a:t>
            </a:r>
          </a:p>
          <a:p>
            <a:pPr lvl="0"/>
            <a:r>
              <a:rPr/>
              <a:t>Fully functional REST API with complete CRUD operations</a:t>
            </a:r>
          </a:p>
          <a:p>
            <a:pPr lvl="0"/>
            <a:r>
              <a:rPr/>
              <a:t>Clean, modular code architecture</a:t>
            </a:r>
          </a:p>
          <a:p>
            <a:pPr lvl="0"/>
            <a:r>
              <a:rPr/>
              <a:t>Comprehensive documentation</a:t>
            </a:r>
          </a:p>
          <a:p>
            <a:pPr lvl="0"/>
            <a:r>
              <a:rPr/>
              <a:t>Analytics and advanced search features</a:t>
            </a:r>
          </a:p>
          <a:p>
            <a:pPr lvl="0"/>
            <a:r>
              <a:rPr/>
              <a:t>Ready for deployment</a:t>
            </a:r>
          </a:p>
          <a:p>
            <a:pPr lvl="0" indent="0" marL="0">
              <a:buNone/>
            </a:pPr>
            <a:r>
              <a:rPr b="1"/>
              <a:t>Thank You!</a:t>
            </a:r>
          </a:p>
          <a:p>
            <a:pPr lvl="0" indent="0" marL="0">
              <a:buNone/>
            </a:pPr>
            <a:r>
              <a:rPr b="1"/>
              <a:t>Questions?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Contact:</a:t>
            </a:r>
            <a:r>
              <a:rPr/>
              <a:t> - GitHub: [your-repo-url] - API Docs: </a:t>
            </a:r>
            <a:r>
              <a:rPr>
                <a:latin typeface="Courier"/>
              </a:rPr>
              <a:t>/api/docs/</a:t>
            </a:r>
            <a:r>
              <a:rPr/>
              <a:t> - Technical Report: </a:t>
            </a:r>
            <a:r>
              <a:rPr>
                <a:latin typeface="Courier"/>
              </a:rPr>
              <a:t>docs/Technical_Report.pdf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2026-04-14T09:21:22Z</dcterms:created>
  <dcterms:modified xsi:type="dcterms:W3CDTF">2026-04-14T09:21:22Z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